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5" r:id="rId10"/>
    <p:sldId id="266" r:id="rId11"/>
  </p:sldIdLst>
  <p:sldSz cx="9144000" cy="5143500" type="screen16x9"/>
  <p:notesSz cx="6858000" cy="9144000"/>
  <p:embeddedFontLst>
    <p:embeddedFont>
      <p:font typeface="Cantarell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eR938i5okOhixe6DqPIewqiQ6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a00271b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6a00271b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a00271ba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6a00271ba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a00271ba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6a00271ba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a00271ba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6a00271ba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9" descr="A white and gold rectangles&#10;&#10;Description automatically generated with low confidence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9143998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" descr="A picture containing text, logo, font,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7532" y="1"/>
            <a:ext cx="2016469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9"/>
          <p:cNvSpPr/>
          <p:nvPr/>
        </p:nvSpPr>
        <p:spPr>
          <a:xfrm>
            <a:off x="0" y="4676776"/>
            <a:ext cx="9144000" cy="46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9"/>
          <p:cNvSpPr/>
          <p:nvPr/>
        </p:nvSpPr>
        <p:spPr>
          <a:xfrm>
            <a:off x="0" y="5109210"/>
            <a:ext cx="9144000" cy="342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7AC5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vu.edu.in/team/aishwarya-singh-gauta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openenergymonitor.org/" TargetMode="External"/><Relationship Id="rId3" Type="http://schemas.openxmlformats.org/officeDocument/2006/relationships/hyperlink" Target="https://www.espressif.com/en/products/socs/esp32" TargetMode="External"/><Relationship Id="rId7" Type="http://schemas.openxmlformats.org/officeDocument/2006/relationships/hyperlink" Target="https://thingspeak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ynk.io/" TargetMode="External"/><Relationship Id="rId5" Type="http://schemas.openxmlformats.org/officeDocument/2006/relationships/hyperlink" Target="https://docs.arduino.cc/software/ide-v1" TargetMode="External"/><Relationship Id="rId4" Type="http://schemas.openxmlformats.org/officeDocument/2006/relationships/hyperlink" Target="https://www.allegromicro.com/en/products/sense/current-sensor-ics/zero-to-fifty-amp-integrated-conductor-sensor-ics/acs7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1241097" y="1208028"/>
            <a:ext cx="6661800" cy="21933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   </a:t>
            </a:r>
            <a:r>
              <a:rPr lang="en" sz="3000" b="1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Smart Energy-Monitoring Plug</a:t>
            </a:r>
            <a:endParaRPr sz="30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   </a:t>
            </a:r>
            <a:endParaRPr sz="27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     </a:t>
            </a:r>
            <a:endParaRPr sz="2700" b="0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pic>
        <p:nvPicPr>
          <p:cNvPr id="60" name="Google Shape;60;p1" descr="A picture containing text, logo, font,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4922" y="0"/>
            <a:ext cx="2149079" cy="120801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0" y="4791075"/>
            <a:ext cx="9144000" cy="951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 rot="10800000" flipH="1">
            <a:off x="0" y="4930228"/>
            <a:ext cx="9144000" cy="342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4937077" y="3822750"/>
            <a:ext cx="41118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Team members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dirty="0"/>
              <a:t>1RUA24CSE0072 </a:t>
            </a:r>
            <a:r>
              <a:rPr lang="en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     </a:t>
            </a:r>
            <a:r>
              <a:rPr lang="en" sz="1100" b="1" dirty="0"/>
              <a:t>Aryav Agrawal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1RUA24CSE0066</a:t>
            </a:r>
            <a:r>
              <a:rPr lang="en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 </a:t>
            </a:r>
            <a:r>
              <a:rPr lang="en" sz="1100" b="1" dirty="0">
                <a:solidFill>
                  <a:schemeClr val="dk1"/>
                </a:solidFill>
              </a:rPr>
              <a:t>Arnav Deshmukh</a:t>
            </a: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1RUA24CSE0069 </a:t>
            </a:r>
            <a:r>
              <a:rPr lang="en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    </a:t>
            </a:r>
            <a:r>
              <a:rPr lang="en" sz="1100" b="1" dirty="0">
                <a:solidFill>
                  <a:schemeClr val="dk1"/>
                </a:solidFill>
              </a:rPr>
              <a:t>Aryaman Misra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1RUA24CSE0077 </a:t>
            </a:r>
            <a:r>
              <a:rPr lang="en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      </a:t>
            </a:r>
            <a:r>
              <a:rPr lang="en" sz="1100" b="1" dirty="0">
                <a:solidFill>
                  <a:schemeClr val="dk1"/>
                </a:solidFill>
              </a:rPr>
              <a:t>Ayush Bhanja</a:t>
            </a:r>
            <a:r>
              <a:rPr lang="en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216900" y="3810613"/>
            <a:ext cx="4461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Course Instructor: </a:t>
            </a:r>
            <a:endParaRPr sz="1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Prof. Aishwarya Singh Gautam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 B.Tech, SoCSE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School of Computer Science and Engineering 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RV University, Bangalore 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Outlines 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498317" y="1492463"/>
            <a:ext cx="8037300" cy="24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and Problem statement </a:t>
            </a: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Analysis and Requirements</a:t>
            </a: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" sz="1900" dirty="0">
                <a:solidFill>
                  <a:schemeClr val="dk1"/>
                </a:solidFill>
              </a:rPr>
              <a:t>Circuit Diagram</a:t>
            </a: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work </a:t>
            </a: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AutoNum type="arabicPeriod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/>
        </p:nvSpPr>
        <p:spPr>
          <a:xfrm>
            <a:off x="804250" y="982125"/>
            <a:ext cx="7347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This project introduces a Smart Energy-Monitoring Plug that tracks electricity usage and allows remote control of appliances. Using an ESP32 with a current sensor and relay, the system measures power consumption and transmits data via Wi-Fi to a mobile dashboard. Users monitor usage, schedule devices, and receive alerts, promoting energy savings and smart living.</a:t>
            </a:r>
            <a:endParaRPr sz="20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Abstract  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744975" y="1166575"/>
            <a:ext cx="73479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With the rapid growth of electrical appliance usage in homes, hostels, and offices, energy wastage has become a common issue. Many users forget to turn off fans, lights, or other devices, leading to unnecessary power consumption and higher electricity bills. Traditional plug points only provide a simple ON/OFF connection and lack the ability to monitor usage or offer remote control. This creates a need for smarter solutions that combine convenience, monitoring, and automation in a single device.</a:t>
            </a:r>
            <a:endParaRPr sz="2000" b="1">
              <a:solidFill>
                <a:srgbClr val="FF0000"/>
              </a:solidFill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Introduction  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744975" y="1094100"/>
            <a:ext cx="73479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Appliances left running unnecessarily cause high bills and energy waste. Traditional plugs lack monitoring and control.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Problem:</a:t>
            </a:r>
            <a:r>
              <a:rPr lang="en" sz="2000">
                <a:solidFill>
                  <a:schemeClr val="dk1"/>
                </a:solidFill>
              </a:rPr>
              <a:t> No affordable device in India offers real-time monitoring + remote control.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Solution:</a:t>
            </a:r>
            <a:r>
              <a:rPr lang="en" sz="2000">
                <a:solidFill>
                  <a:schemeClr val="dk1"/>
                </a:solidFill>
              </a:rPr>
              <a:t> An IoT-enabled smart plug that is portable, safe, and efficient.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Statement 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a00271ba0_0_0"/>
          <p:cNvSpPr txBox="1"/>
          <p:nvPr/>
        </p:nvSpPr>
        <p:spPr>
          <a:xfrm>
            <a:off x="744975" y="1296775"/>
            <a:ext cx="73479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Input:</a:t>
            </a:r>
            <a:r>
              <a:rPr lang="en" sz="2000">
                <a:solidFill>
                  <a:schemeClr val="dk1"/>
                </a:solidFill>
              </a:rPr>
              <a:t> AC → Plug → Relay → Appliance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Sensing:</a:t>
            </a:r>
            <a:r>
              <a:rPr lang="en" sz="2000">
                <a:solidFill>
                  <a:schemeClr val="dk1"/>
                </a:solidFill>
              </a:rPr>
              <a:t> Current sensor measures usage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Processing:</a:t>
            </a:r>
            <a:r>
              <a:rPr lang="en" sz="2000">
                <a:solidFill>
                  <a:schemeClr val="dk1"/>
                </a:solidFill>
              </a:rPr>
              <a:t> ESP32 reads and processes data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Communication:</a:t>
            </a:r>
            <a:r>
              <a:rPr lang="en" sz="2000">
                <a:solidFill>
                  <a:schemeClr val="dk1"/>
                </a:solidFill>
              </a:rPr>
              <a:t> Wi-Fi sends data to app/cloud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Output:</a:t>
            </a:r>
            <a:r>
              <a:rPr lang="en" sz="2000">
                <a:solidFill>
                  <a:schemeClr val="dk1"/>
                </a:solidFill>
              </a:rPr>
              <a:t> Appliance ON/OFF, alerts, scheduling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000" b="1">
              <a:solidFill>
                <a:schemeClr val="dk1"/>
              </a:solidFill>
            </a:endParaRPr>
          </a:p>
        </p:txBody>
      </p:sp>
      <p:sp>
        <p:nvSpPr>
          <p:cNvPr id="94" name="Google Shape;94;g36a00271ba0_0_0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Architecture 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a00271ba0_0_5"/>
          <p:cNvSpPr txBox="1"/>
          <p:nvPr/>
        </p:nvSpPr>
        <p:spPr>
          <a:xfrm>
            <a:off x="744975" y="1307625"/>
            <a:ext cx="73479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</a:rPr>
              <a:t>Hardware:</a:t>
            </a:r>
            <a:r>
              <a:rPr lang="en" sz="2000" dirty="0">
                <a:solidFill>
                  <a:schemeClr val="dk1"/>
                </a:solidFill>
              </a:rPr>
              <a:t> ESP32, ACS712/PZEM-004T sensor, relay, plug/socket, OLED (optional), casing.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</a:rPr>
              <a:t>Software:</a:t>
            </a:r>
            <a:r>
              <a:rPr lang="en" sz="2000" dirty="0">
                <a:solidFill>
                  <a:schemeClr val="dk1"/>
                </a:solidFill>
              </a:rPr>
              <a:t> Arduino IDE, Blynk/Thingspeak.</a:t>
            </a:r>
            <a:endParaRPr sz="2500" b="1" dirty="0">
              <a:solidFill>
                <a:srgbClr val="FF0000"/>
              </a:solidFill>
            </a:endParaRPr>
          </a:p>
        </p:txBody>
      </p:sp>
      <p:sp>
        <p:nvSpPr>
          <p:cNvPr id="100" name="Google Shape;100;g36a00271ba0_0_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System Analysis and Requirements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EEB3D7-AE3B-4FD1-5B46-DABCE5EE0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7" y="141668"/>
            <a:ext cx="6446279" cy="429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a00271ba0_0_15"/>
          <p:cNvSpPr txBox="1"/>
          <p:nvPr/>
        </p:nvSpPr>
        <p:spPr>
          <a:xfrm>
            <a:off x="804250" y="1307625"/>
            <a:ext cx="7347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33039"/>
                </a:solidFill>
              </a:rPr>
              <a:t>Voice assistant integration</a:t>
            </a:r>
            <a:br>
              <a:rPr lang="en" sz="2000">
                <a:solidFill>
                  <a:srgbClr val="233039"/>
                </a:solidFill>
              </a:rPr>
            </a:br>
            <a:endParaRPr sz="2000">
              <a:solidFill>
                <a:srgbClr val="23303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33039"/>
                </a:solidFill>
              </a:rPr>
              <a:t>Multi-plug dashboard</a:t>
            </a:r>
            <a:br>
              <a:rPr lang="en" sz="2000">
                <a:solidFill>
                  <a:srgbClr val="233039"/>
                </a:solidFill>
              </a:rPr>
            </a:br>
            <a:endParaRPr sz="2000">
              <a:solidFill>
                <a:srgbClr val="23303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33039"/>
                </a:solidFill>
              </a:rPr>
              <a:t>AI-based energy suggestions</a:t>
            </a:r>
            <a:br>
              <a:rPr lang="en" sz="2000">
                <a:solidFill>
                  <a:srgbClr val="233039"/>
                </a:solidFill>
              </a:rPr>
            </a:br>
            <a:endParaRPr sz="2000">
              <a:solidFill>
                <a:srgbClr val="23303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33039"/>
                </a:solidFill>
              </a:rPr>
              <a:t>Dedicated mobile app</a:t>
            </a:r>
            <a:endParaRPr sz="2000">
              <a:solidFill>
                <a:srgbClr val="233039"/>
              </a:solidFill>
            </a:endParaRPr>
          </a:p>
        </p:txBody>
      </p:sp>
      <p:sp>
        <p:nvSpPr>
          <p:cNvPr id="118" name="Google Shape;118;g36a00271ba0_0_1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Future Work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a00271ba0_0_20"/>
          <p:cNvSpPr txBox="1"/>
          <p:nvPr/>
        </p:nvSpPr>
        <p:spPr>
          <a:xfrm>
            <a:off x="744975" y="1155725"/>
            <a:ext cx="7347900" cy="31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500" dirty="0" err="1"/>
              <a:t>Espressif</a:t>
            </a:r>
            <a:r>
              <a:rPr lang="en-US" sz="1500" dirty="0"/>
              <a:t> Systems. (2020). </a:t>
            </a:r>
            <a:r>
              <a:rPr lang="en-US" sz="1500" i="1" dirty="0"/>
              <a:t>ESP32 series datasheet</a:t>
            </a:r>
            <a:r>
              <a:rPr lang="en-US" sz="1500" dirty="0"/>
              <a:t>. Retrieved from </a:t>
            </a:r>
            <a:r>
              <a:rPr lang="en-US" sz="1500" dirty="0">
                <a:hlinkClick r:id="rId3"/>
              </a:rPr>
              <a:t>https://www.espressif.com/en/products/socs/esp32</a:t>
            </a:r>
            <a:endParaRPr lang="en-US" sz="1500" dirty="0"/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500" dirty="0"/>
              <a:t>Allegro Microsystems. (2019). </a:t>
            </a:r>
            <a:r>
              <a:rPr lang="en-US" sz="1500" i="1" dirty="0"/>
              <a:t>ACS712 current sensor IC datasheet</a:t>
            </a:r>
            <a:r>
              <a:rPr lang="en-US" sz="1500" dirty="0"/>
              <a:t>. Retrieved from </a:t>
            </a:r>
            <a:r>
              <a:rPr lang="en-US" sz="1500" dirty="0">
                <a:hlinkClick r:id="rId4"/>
              </a:rPr>
              <a:t>https://www.allegromicro.com/en/products/sense/current-sensor-ics/zero-to-fifty-amp-integrated-conductor-sensor-ics/acs712</a:t>
            </a:r>
            <a:endParaRPr lang="en-US" sz="1500" dirty="0"/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500" dirty="0"/>
              <a:t>Arduino. (n.d.). </a:t>
            </a:r>
            <a:r>
              <a:rPr lang="en-US" sz="1500" i="1" dirty="0"/>
              <a:t>Arduino IDE documentation</a:t>
            </a:r>
            <a:r>
              <a:rPr lang="en-US" sz="1500" dirty="0"/>
              <a:t>. Retrieved from </a:t>
            </a:r>
            <a:r>
              <a:rPr lang="en-US" sz="1500" dirty="0">
                <a:hlinkClick r:id="rId5"/>
              </a:rPr>
              <a:t>https://docs.arduino.cc/software/ide-v1</a:t>
            </a:r>
            <a:endParaRPr lang="en-US" sz="1500" dirty="0"/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500" dirty="0"/>
              <a:t>Blynk IoT Platform. (n.d.). </a:t>
            </a:r>
            <a:r>
              <a:rPr lang="en-US" sz="1500" i="1" dirty="0"/>
              <a:t>Blynk documentation</a:t>
            </a:r>
            <a:r>
              <a:rPr lang="en-US" sz="1500" dirty="0"/>
              <a:t>. Retrieved from </a:t>
            </a:r>
            <a:r>
              <a:rPr lang="en-US" sz="1500" dirty="0">
                <a:hlinkClick r:id="rId6"/>
              </a:rPr>
              <a:t>https://blynk.io</a:t>
            </a:r>
            <a:endParaRPr lang="en-US" sz="1500" dirty="0"/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500" dirty="0"/>
              <a:t>MathWorks. (n.d.). </a:t>
            </a:r>
            <a:r>
              <a:rPr lang="en-US" sz="1500" i="1" dirty="0" err="1"/>
              <a:t>ThingSpeak</a:t>
            </a:r>
            <a:r>
              <a:rPr lang="en-US" sz="1500" i="1" dirty="0"/>
              <a:t> IoT analytics platform</a:t>
            </a:r>
            <a:r>
              <a:rPr lang="en-US" sz="1500" dirty="0"/>
              <a:t>. Retrieved from </a:t>
            </a:r>
            <a:r>
              <a:rPr lang="en-US" sz="1500" dirty="0">
                <a:hlinkClick r:id="rId7"/>
              </a:rPr>
              <a:t>https://thingspeak.com</a:t>
            </a:r>
            <a:endParaRPr lang="en-US" sz="1500" dirty="0"/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500" dirty="0" err="1"/>
              <a:t>OpenEnergyMonitor</a:t>
            </a:r>
            <a:r>
              <a:rPr lang="en-US" sz="1500" dirty="0"/>
              <a:t>. (n.d.). </a:t>
            </a:r>
            <a:r>
              <a:rPr lang="en-US" sz="1500" i="1" dirty="0"/>
              <a:t>Energy monitoring basics</a:t>
            </a:r>
            <a:r>
              <a:rPr lang="en-US" sz="1500" dirty="0"/>
              <a:t>. Retrieved from </a:t>
            </a:r>
            <a:r>
              <a:rPr lang="en-US" sz="1500" dirty="0">
                <a:hlinkClick r:id="rId8"/>
              </a:rPr>
              <a:t>https://learn.openenergymonitor.org</a:t>
            </a:r>
            <a:endParaRPr lang="en-US" sz="1500" dirty="0"/>
          </a:p>
          <a:p>
            <a:pPr lvl="0">
              <a:buClr>
                <a:schemeClr val="dk1"/>
              </a:buClr>
              <a:buSzPts val="1100"/>
            </a:pPr>
            <a:endParaRPr lang="en-US" sz="1500" dirty="0">
              <a:solidFill>
                <a:srgbClr val="233039"/>
              </a:solidFill>
            </a:endParaRPr>
          </a:p>
        </p:txBody>
      </p:sp>
      <p:sp>
        <p:nvSpPr>
          <p:cNvPr id="124" name="Google Shape;124;g36a00271ba0_0_20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References</a:t>
            </a:r>
            <a:endParaRPr sz="1400" b="1" i="0" u="none" strike="noStrike" cap="non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510</Words>
  <Application>Microsoft Office PowerPoint</Application>
  <PresentationFormat>On-screen Show (16:9)</PresentationFormat>
  <Paragraphs>55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Cantarell</vt:lpstr>
      <vt:lpstr>Calibri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Aryav Agrawal</dc:creator>
  <cp:lastModifiedBy>Aryav Agrawal</cp:lastModifiedBy>
  <cp:revision>4</cp:revision>
  <dcterms:modified xsi:type="dcterms:W3CDTF">2025-08-25T09:44:18Z</dcterms:modified>
</cp:coreProperties>
</file>